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25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39BD6A-DBE4-430F-B41F-F9A1D1ED3FAE}"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76240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39BD6A-DBE4-430F-B41F-F9A1D1ED3FAE}"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293309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39BD6A-DBE4-430F-B41F-F9A1D1ED3FAE}"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956563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39BD6A-DBE4-430F-B41F-F9A1D1ED3FAE}"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025100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39BD6A-DBE4-430F-B41F-F9A1D1ED3FAE}"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177900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39BD6A-DBE4-430F-B41F-F9A1D1ED3FAE}"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841514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39BD6A-DBE4-430F-B41F-F9A1D1ED3FAE}"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224634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9BD6A-DBE4-430F-B41F-F9A1D1ED3FAE}"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3404714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9BD6A-DBE4-430F-B41F-F9A1D1ED3FAE}"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303015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39BD6A-DBE4-430F-B41F-F9A1D1ED3FAE}"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2785829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39BD6A-DBE4-430F-B41F-F9A1D1ED3FAE}"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9AD0D-39D4-467B-B37B-F08172926788}" type="slidenum">
              <a:rPr lang="en-US" smtClean="0"/>
              <a:t>‹#›</a:t>
            </a:fld>
            <a:endParaRPr lang="en-US"/>
          </a:p>
        </p:txBody>
      </p:sp>
    </p:spTree>
    <p:extLst>
      <p:ext uri="{BB962C8B-B14F-4D97-AF65-F5344CB8AC3E}">
        <p14:creationId xmlns:p14="http://schemas.microsoft.com/office/powerpoint/2010/main" val="1812330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74000">
              <a:schemeClr val="accent6">
                <a:lumMod val="20000"/>
                <a:lumOff val="80000"/>
              </a:schemeClr>
            </a:gs>
            <a:gs pos="83000">
              <a:schemeClr val="accent3">
                <a:lumMod val="20000"/>
                <a:lumOff val="80000"/>
              </a:schemeClr>
            </a:gs>
            <a:gs pos="100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39BD6A-DBE4-430F-B41F-F9A1D1ED3FAE}" type="datetimeFigureOut">
              <a:rPr lang="en-US" smtClean="0"/>
              <a:t>10/12/2026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9AD0D-39D4-467B-B37B-F08172926788}" type="slidenum">
              <a:rPr lang="en-US" smtClean="0"/>
              <a:t>‹#›</a:t>
            </a:fld>
            <a:endParaRPr lang="en-US"/>
          </a:p>
        </p:txBody>
      </p:sp>
    </p:spTree>
    <p:extLst>
      <p:ext uri="{BB962C8B-B14F-4D97-AF65-F5344CB8AC3E}">
        <p14:creationId xmlns:p14="http://schemas.microsoft.com/office/powerpoint/2010/main" val="750396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3600" dirty="0" smtClean="0">
                <a:latin typeface="+mn-lt"/>
              </a:rPr>
              <a:t>CYBERSECURITY INTERSHIP</a:t>
            </a:r>
            <a:r>
              <a:rPr lang="en-US" dirty="0" smtClean="0">
                <a:latin typeface="+mn-lt"/>
              </a:rPr>
              <a:t/>
            </a:r>
            <a:br>
              <a:rPr lang="en-US" dirty="0" smtClean="0">
                <a:latin typeface="+mn-lt"/>
              </a:rPr>
            </a:br>
            <a:r>
              <a:rPr lang="en-US" sz="1800" u="sng" dirty="0" smtClean="0">
                <a:latin typeface="+mn-lt"/>
              </a:rPr>
              <a:t>WEEK 6 ASSIGNMENT</a:t>
            </a:r>
            <a:br>
              <a:rPr lang="en-US" sz="1800" u="sng" dirty="0" smtClean="0">
                <a:latin typeface="+mn-lt"/>
              </a:rPr>
            </a:br>
            <a:r>
              <a:rPr lang="en-US" sz="1800" u="sng" dirty="0" smtClean="0">
                <a:latin typeface="+mn-lt"/>
              </a:rPr>
              <a:t> WEB SECURITY &amp; VULNERABILITY TESTING</a:t>
            </a:r>
            <a:endParaRPr lang="en-US" sz="1800" u="sng" dirty="0">
              <a:latin typeface="+mn-lt"/>
            </a:endParaRPr>
          </a:p>
        </p:txBody>
      </p:sp>
      <p:sp>
        <p:nvSpPr>
          <p:cNvPr id="5" name="Content Placeholder 4"/>
          <p:cNvSpPr>
            <a:spLocks noGrp="1"/>
          </p:cNvSpPr>
          <p:nvPr>
            <p:ph idx="1"/>
          </p:nvPr>
        </p:nvSpPr>
        <p:spPr/>
        <p:txBody>
          <a:bodyPr>
            <a:noAutofit/>
          </a:bodyPr>
          <a:lstStyle/>
          <a:p>
            <a:pPr marL="0" indent="0">
              <a:buNone/>
            </a:pPr>
            <a:r>
              <a:rPr lang="en-US" sz="1600" b="1" dirty="0" smtClean="0"/>
              <a:t>Submitted by </a:t>
            </a:r>
          </a:p>
          <a:p>
            <a:pPr marL="0" indent="0">
              <a:buNone/>
            </a:pPr>
            <a:r>
              <a:rPr lang="en-US" sz="1600" b="1" dirty="0" smtClean="0"/>
              <a:t>Name</a:t>
            </a:r>
            <a:r>
              <a:rPr lang="en-US" sz="1600" dirty="0" smtClean="0"/>
              <a:t>: </a:t>
            </a:r>
            <a:r>
              <a:rPr lang="en-US" sz="1600" dirty="0" err="1" smtClean="0"/>
              <a:t>Deepashree.C</a:t>
            </a:r>
            <a:endParaRPr lang="en-US" sz="1600" dirty="0" smtClean="0"/>
          </a:p>
          <a:p>
            <a:pPr marL="0" indent="0">
              <a:buNone/>
            </a:pPr>
            <a:r>
              <a:rPr lang="en-US" sz="1600" b="1" dirty="0" smtClean="0"/>
              <a:t>Role</a:t>
            </a:r>
            <a:r>
              <a:rPr lang="en-US" sz="1600" dirty="0" smtClean="0"/>
              <a:t>: </a:t>
            </a:r>
            <a:r>
              <a:rPr lang="en-US" sz="1600" dirty="0" err="1" smtClean="0"/>
              <a:t>Cybersecurity</a:t>
            </a:r>
            <a:r>
              <a:rPr lang="en-US" sz="1600" dirty="0" smtClean="0"/>
              <a:t> Intern </a:t>
            </a:r>
          </a:p>
          <a:p>
            <a:pPr marL="0" indent="0">
              <a:buNone/>
            </a:pPr>
            <a:r>
              <a:rPr lang="en-US" sz="1600" b="1" dirty="0" smtClean="0"/>
              <a:t>Week</a:t>
            </a:r>
            <a:r>
              <a:rPr lang="en-US" sz="1600" dirty="0" smtClean="0"/>
              <a:t>: Week 6 </a:t>
            </a:r>
          </a:p>
          <a:p>
            <a:pPr marL="0" indent="0">
              <a:buNone/>
            </a:pPr>
            <a:r>
              <a:rPr lang="en-US" sz="1600" b="1" dirty="0" smtClean="0"/>
              <a:t>SIN</a:t>
            </a:r>
            <a:r>
              <a:rPr lang="en-US" sz="1600" dirty="0" smtClean="0"/>
              <a:t>: DG/SEPTEMBER/CYBER/254 </a:t>
            </a:r>
          </a:p>
          <a:p>
            <a:pPr marL="0" indent="0">
              <a:buNone/>
            </a:pPr>
            <a:r>
              <a:rPr lang="en-US" sz="1600" b="1" dirty="0" smtClean="0"/>
              <a:t>Submitted to</a:t>
            </a:r>
            <a:r>
              <a:rPr lang="en-US" sz="1600" dirty="0" smtClean="0"/>
              <a:t>: DG Interns Hub</a:t>
            </a:r>
          </a:p>
          <a:p>
            <a:pPr marL="0" indent="0">
              <a:buNone/>
            </a:pPr>
            <a:r>
              <a:rPr lang="en-US" sz="1600" b="1" dirty="0" smtClean="0"/>
              <a:t>Topics covered</a:t>
            </a:r>
            <a:r>
              <a:rPr lang="en-US" sz="1600" dirty="0" smtClean="0"/>
              <a:t>: </a:t>
            </a:r>
          </a:p>
          <a:p>
            <a:pPr marL="0" indent="0" algn="just">
              <a:buNone/>
            </a:pPr>
            <a:r>
              <a:rPr lang="en-US" sz="1600" dirty="0"/>
              <a:t> </a:t>
            </a:r>
            <a:r>
              <a:rPr lang="en-US" sz="1600" dirty="0" smtClean="0"/>
              <a:t>o VAPT fundamentals</a:t>
            </a:r>
          </a:p>
          <a:p>
            <a:pPr marL="0" indent="0" algn="just">
              <a:buNone/>
            </a:pPr>
            <a:r>
              <a:rPr lang="en-US" sz="1600" dirty="0" smtClean="0"/>
              <a:t> o OWASP web vulnerabilities: Broken Authentication, Security Misconfiguration</a:t>
            </a:r>
          </a:p>
          <a:p>
            <a:pPr marL="0" indent="0" algn="just">
              <a:buNone/>
            </a:pPr>
            <a:r>
              <a:rPr lang="en-US" sz="1600" dirty="0" smtClean="0"/>
              <a:t> o SQL Injection, XSS(Reflected &amp; Stored)</a:t>
            </a:r>
          </a:p>
          <a:p>
            <a:pPr marL="0" indent="0" algn="just">
              <a:buNone/>
            </a:pPr>
            <a:r>
              <a:rPr lang="en-US" sz="1600" dirty="0" smtClean="0"/>
              <a:t> o Burp Suite traffic analysis </a:t>
            </a:r>
          </a:p>
          <a:p>
            <a:pPr marL="0" indent="0" algn="just">
              <a:buNone/>
            </a:pPr>
            <a:r>
              <a:rPr lang="en-US" sz="1600" dirty="0" smtClean="0"/>
              <a:t> o OWASP ZAP vulnerability scanning </a:t>
            </a:r>
          </a:p>
          <a:p>
            <a:pPr marL="0" indent="0" algn="just">
              <a:buNone/>
            </a:pPr>
            <a:r>
              <a:rPr lang="en-US" sz="1600" dirty="0" smtClean="0"/>
              <a:t> o DVWA practical testing o Risk assessment and mitigation</a:t>
            </a:r>
            <a:endParaRPr lang="en-US" sz="1600" dirty="0"/>
          </a:p>
        </p:txBody>
      </p:sp>
    </p:spTree>
    <p:extLst>
      <p:ext uri="{BB962C8B-B14F-4D97-AF65-F5344CB8AC3E}">
        <p14:creationId xmlns:p14="http://schemas.microsoft.com/office/powerpoint/2010/main" val="162256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2" y="0"/>
            <a:ext cx="10515600" cy="1325563"/>
          </a:xfrm>
        </p:spPr>
        <p:txBody>
          <a:bodyPr>
            <a:normAutofit/>
          </a:bodyPr>
          <a:lstStyle/>
          <a:p>
            <a:pPr lvl="0" algn="ctr" eaLnBrk="0" fontAlgn="base" hangingPunct="0">
              <a:lnSpc>
                <a:spcPct val="100000"/>
              </a:lnSpc>
              <a:spcAft>
                <a:spcPct val="0"/>
              </a:spcAft>
            </a:pPr>
            <a:r>
              <a:rPr kumimoji="0" lang="en-US" sz="2800" b="1" i="0" u="none" strike="noStrike" cap="none" normalizeH="0" baseline="0" dirty="0" smtClean="0">
                <a:ln>
                  <a:noFill/>
                </a:ln>
                <a:solidFill>
                  <a:schemeClr val="tx1"/>
                </a:solidFill>
                <a:effectLst/>
                <a:latin typeface="+mn-lt"/>
              </a:rPr>
              <a:t>Introduction to VAPT (Vulnerability Assessment and Penetration Testing)</a:t>
            </a:r>
            <a:endParaRPr kumimoji="0" lang="en-US" sz="2800" b="1" i="0" u="none" strike="noStrike" cap="none" normalizeH="0" baseline="0" dirty="0" smtClean="0">
              <a:ln>
                <a:noFill/>
              </a:ln>
              <a:solidFill>
                <a:schemeClr val="tx1"/>
              </a:solidFill>
              <a:effectLst/>
              <a:latin typeface="+mn-lt"/>
            </a:endParaRPr>
          </a:p>
        </p:txBody>
      </p:sp>
      <p:sp>
        <p:nvSpPr>
          <p:cNvPr id="4" name="Rectangle 1"/>
          <p:cNvSpPr>
            <a:spLocks noGrp="1" noChangeArrowheads="1"/>
          </p:cNvSpPr>
          <p:nvPr>
            <p:ph idx="1"/>
          </p:nvPr>
        </p:nvSpPr>
        <p:spPr bwMode="auto">
          <a:xfrm>
            <a:off x="838202" y="1241673"/>
            <a:ext cx="5355564" cy="590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kumimoji="0" lang="en-US" sz="1600" b="1" i="0" u="sng" strike="noStrike" cap="none" normalizeH="0" baseline="0" dirty="0" smtClean="0">
                <a:ln>
                  <a:noFill/>
                </a:ln>
                <a:solidFill>
                  <a:schemeClr val="tx1"/>
                </a:solidFill>
                <a:effectLst/>
              </a:rPr>
              <a:t>Vulnerability Assessment and Penetration Testing:</a:t>
            </a:r>
            <a:endParaRPr lang="en-US" sz="1600" u="sng" dirty="0" smtClean="0"/>
          </a:p>
          <a:p>
            <a:pPr marL="0" indent="0">
              <a:buNone/>
            </a:pPr>
            <a:r>
              <a:rPr lang="en-US" sz="1600" dirty="0" smtClean="0"/>
              <a:t>VAPT is a security testing process used to identify, analyze, and validate vulnerabilities in systems and web applications.</a:t>
            </a:r>
          </a:p>
          <a:p>
            <a:pPr marL="0" indent="0">
              <a:buNone/>
            </a:pPr>
            <a:endParaRPr lang="en-US" sz="1600" b="1" u="sng" dirty="0" smtClean="0"/>
          </a:p>
          <a:p>
            <a:pPr marL="0" indent="0">
              <a:buNone/>
            </a:pPr>
            <a:r>
              <a:rPr lang="en-US" sz="1600" b="1" u="sng" dirty="0" smtClean="0"/>
              <a:t>Objectives:</a:t>
            </a:r>
          </a:p>
          <a:p>
            <a:r>
              <a:rPr lang="en-US" sz="1600" dirty="0" smtClean="0"/>
              <a:t>Identify web application security weaknesses.</a:t>
            </a:r>
          </a:p>
          <a:p>
            <a:r>
              <a:rPr lang="en-US" sz="1600" dirty="0" smtClean="0"/>
              <a:t>Understand common vulnerabilities in an authorized environment.</a:t>
            </a:r>
          </a:p>
          <a:p>
            <a:r>
              <a:rPr lang="en-US" sz="1600" dirty="0" smtClean="0"/>
              <a:t>Analyze HTTP requests and responses.</a:t>
            </a:r>
          </a:p>
          <a:p>
            <a:r>
              <a:rPr lang="en-US" sz="1600" dirty="0" smtClean="0"/>
              <a:t>Assess risk levels and potential impacts.</a:t>
            </a:r>
          </a:p>
          <a:p>
            <a:r>
              <a:rPr lang="en-US" sz="1600" dirty="0" smtClean="0"/>
              <a:t>Recommend suitable mitigation techniques.</a:t>
            </a:r>
          </a:p>
          <a:p>
            <a:pPr marL="0" indent="0">
              <a:buNone/>
            </a:pPr>
            <a:endParaRPr lang="en-US" sz="1600" b="1" u="sng" dirty="0" smtClean="0"/>
          </a:p>
          <a:p>
            <a:pPr marL="0" indent="0">
              <a:buNone/>
            </a:pPr>
            <a:r>
              <a:rPr lang="en-US" sz="1600" b="1" u="sng" dirty="0" smtClean="0"/>
              <a:t>Testing Environment:</a:t>
            </a:r>
          </a:p>
          <a:p>
            <a:r>
              <a:rPr lang="en-US" sz="1600" b="1" dirty="0" smtClean="0"/>
              <a:t>Target:</a:t>
            </a:r>
            <a:r>
              <a:rPr lang="en-US" sz="1600" dirty="0" smtClean="0"/>
              <a:t> DVWA (Damn Vulnerable Web Application)</a:t>
            </a:r>
          </a:p>
          <a:p>
            <a:r>
              <a:rPr lang="en-US" sz="1600" b="1" dirty="0" smtClean="0"/>
              <a:t>Environment:</a:t>
            </a:r>
            <a:r>
              <a:rPr lang="en-US" sz="1600" dirty="0" smtClean="0"/>
              <a:t> Local/authorized lab</a:t>
            </a:r>
          </a:p>
          <a:p>
            <a:r>
              <a:rPr lang="en-US" sz="1600" b="1" dirty="0" smtClean="0"/>
              <a:t>Tools:</a:t>
            </a:r>
            <a:r>
              <a:rPr lang="en-US" sz="1600" dirty="0" smtClean="0"/>
              <a:t> Burp Suite and OWASP ZAP</a:t>
            </a:r>
          </a:p>
          <a:p>
            <a:r>
              <a:rPr lang="en-US" sz="1600" b="1" dirty="0" smtClean="0"/>
              <a:t>Approach:</a:t>
            </a:r>
            <a:r>
              <a:rPr lang="en-US" sz="1600" dirty="0" smtClean="0"/>
              <a:t> Manual testing and automated scanning</a:t>
            </a:r>
          </a:p>
          <a:p>
            <a:pPr eaLnBrk="0" fontAlgn="base" hangingPunct="0">
              <a:lnSpc>
                <a:spcPct val="100000"/>
              </a:lnSpc>
              <a:spcBef>
                <a:spcPct val="0"/>
              </a:spcBef>
              <a:spcAft>
                <a:spcPct val="0"/>
              </a:spcAft>
            </a:pPr>
            <a:endParaRPr kumimoji="0" lang="en-US" sz="1600" b="0" i="0" u="none" strike="noStrike" cap="none" normalizeH="0" baseline="0" dirty="0" smtClean="0">
              <a:ln>
                <a:noFill/>
              </a:ln>
              <a:solidFill>
                <a:schemeClr val="tx1"/>
              </a:solidFill>
              <a:effectLs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968" y="1325563"/>
            <a:ext cx="4481992" cy="3856037"/>
          </a:xfrm>
          <a:prstGeom prst="rect">
            <a:avLst/>
          </a:prstGeom>
        </p:spPr>
      </p:pic>
      <p:sp>
        <p:nvSpPr>
          <p:cNvPr id="6" name="TextBox 5"/>
          <p:cNvSpPr txBox="1"/>
          <p:nvPr/>
        </p:nvSpPr>
        <p:spPr>
          <a:xfrm>
            <a:off x="7344964" y="5323840"/>
            <a:ext cx="4318000" cy="307777"/>
          </a:xfrm>
          <a:prstGeom prst="rect">
            <a:avLst/>
          </a:prstGeom>
          <a:noFill/>
        </p:spPr>
        <p:txBody>
          <a:bodyPr wrap="square" rtlCol="0">
            <a:spAutoFit/>
          </a:bodyPr>
          <a:lstStyle/>
          <a:p>
            <a:r>
              <a:rPr lang="en-US" sz="1400" dirty="0" smtClean="0"/>
              <a:t>Fig: DVWA Web Application Testing Environment</a:t>
            </a:r>
            <a:endParaRPr lang="en-US" sz="1400" dirty="0"/>
          </a:p>
        </p:txBody>
      </p:sp>
    </p:spTree>
    <p:extLst>
      <p:ext uri="{BB962C8B-B14F-4D97-AF65-F5344CB8AC3E}">
        <p14:creationId xmlns:p14="http://schemas.microsoft.com/office/powerpoint/2010/main" val="3865820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smtClean="0">
                <a:latin typeface="+mn-lt"/>
              </a:rPr>
              <a:t>Study of OWASP Vulnerabilities</a:t>
            </a:r>
            <a:endParaRPr lang="en-US" sz="2800" b="1" dirty="0">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75631743"/>
              </p:ext>
            </p:extLst>
          </p:nvPr>
        </p:nvGraphicFramePr>
        <p:xfrm>
          <a:off x="838200" y="2492534"/>
          <a:ext cx="10515600" cy="2712720"/>
        </p:xfrm>
        <a:graphic>
          <a:graphicData uri="http://schemas.openxmlformats.org/drawingml/2006/table">
            <a:tbl>
              <a:tblPr>
                <a:tableStyleId>{5DA37D80-6434-44D0-A028-1B22A696006F}</a:tableStyleId>
              </a:tblPr>
              <a:tblGrid>
                <a:gridCol w="2628900"/>
                <a:gridCol w="2628900"/>
                <a:gridCol w="2628900"/>
                <a:gridCol w="2628900"/>
              </a:tblGrid>
              <a:tr h="0">
                <a:tc>
                  <a:txBody>
                    <a:bodyPr/>
                    <a:lstStyle/>
                    <a:p>
                      <a:r>
                        <a:rPr lang="en-US" sz="1600" dirty="0"/>
                        <a:t>Vulnerability</a:t>
                      </a:r>
                    </a:p>
                  </a:txBody>
                  <a:tcPr anchor="ctr"/>
                </a:tc>
                <a:tc>
                  <a:txBody>
                    <a:bodyPr/>
                    <a:lstStyle/>
                    <a:p>
                      <a:r>
                        <a:rPr lang="en-US" sz="1600"/>
                        <a:t>Definition</a:t>
                      </a:r>
                    </a:p>
                  </a:txBody>
                  <a:tcPr anchor="ctr"/>
                </a:tc>
                <a:tc>
                  <a:txBody>
                    <a:bodyPr/>
                    <a:lstStyle/>
                    <a:p>
                      <a:r>
                        <a:rPr lang="en-US" sz="1600"/>
                        <a:t>Impact</a:t>
                      </a:r>
                    </a:p>
                  </a:txBody>
                  <a:tcPr anchor="ctr"/>
                </a:tc>
                <a:tc>
                  <a:txBody>
                    <a:bodyPr/>
                    <a:lstStyle/>
                    <a:p>
                      <a:r>
                        <a:rPr lang="en-US" sz="1600"/>
                        <a:t>Prevention</a:t>
                      </a:r>
                    </a:p>
                  </a:txBody>
                  <a:tcPr anchor="ctr"/>
                </a:tc>
              </a:tr>
              <a:tr h="0">
                <a:tc>
                  <a:txBody>
                    <a:bodyPr/>
                    <a:lstStyle/>
                    <a:p>
                      <a:r>
                        <a:rPr lang="en-US" sz="1600" dirty="0"/>
                        <a:t>Broken Authentication</a:t>
                      </a:r>
                    </a:p>
                  </a:txBody>
                  <a:tcPr anchor="ctr"/>
                </a:tc>
                <a:tc>
                  <a:txBody>
                    <a:bodyPr/>
                    <a:lstStyle/>
                    <a:p>
                      <a:r>
                        <a:rPr lang="en-US" sz="1600"/>
                        <a:t>Weak authentication or improper session handling allows attackers to access user accounts.</a:t>
                      </a:r>
                    </a:p>
                  </a:txBody>
                  <a:tcPr anchor="ctr"/>
                </a:tc>
                <a:tc>
                  <a:txBody>
                    <a:bodyPr/>
                    <a:lstStyle/>
                    <a:p>
                      <a:r>
                        <a:rPr lang="en-US" sz="1600"/>
                        <a:t>Account hijacking, identity theft, and unauthorized access.</a:t>
                      </a:r>
                    </a:p>
                  </a:txBody>
                  <a:tcPr anchor="ctr"/>
                </a:tc>
                <a:tc>
                  <a:txBody>
                    <a:bodyPr/>
                    <a:lstStyle/>
                    <a:p>
                      <a:r>
                        <a:rPr lang="en-US" sz="1600"/>
                        <a:t>Use strong passwords, MFA, secure session management, and login rate limiting.</a:t>
                      </a:r>
                    </a:p>
                  </a:txBody>
                  <a:tcPr anchor="ctr"/>
                </a:tc>
              </a:tr>
              <a:tr h="0">
                <a:tc>
                  <a:txBody>
                    <a:bodyPr/>
                    <a:lstStyle/>
                    <a:p>
                      <a:r>
                        <a:rPr lang="en-US" sz="1600"/>
                        <a:t>Security Misconfiguration</a:t>
                      </a:r>
                    </a:p>
                  </a:txBody>
                  <a:tcPr anchor="ctr"/>
                </a:tc>
                <a:tc>
                  <a:txBody>
                    <a:bodyPr/>
                    <a:lstStyle/>
                    <a:p>
                      <a:r>
                        <a:rPr lang="en-US" sz="1600"/>
                        <a:t>Incorrect or insecure application, server, or system settings expose security weaknesses.</a:t>
                      </a:r>
                    </a:p>
                  </a:txBody>
                  <a:tcPr anchor="ctr"/>
                </a:tc>
                <a:tc>
                  <a:txBody>
                    <a:bodyPr/>
                    <a:lstStyle/>
                    <a:p>
                      <a:r>
                        <a:rPr lang="en-US" sz="1600"/>
                        <a:t>Data leakage, unauthorized access, and privilege escalation.</a:t>
                      </a:r>
                    </a:p>
                  </a:txBody>
                  <a:tcPr anchor="ctr"/>
                </a:tc>
                <a:tc>
                  <a:txBody>
                    <a:bodyPr/>
                    <a:lstStyle/>
                    <a:p>
                      <a:r>
                        <a:rPr lang="en-US" sz="1600" dirty="0"/>
                        <a:t>Disable default accounts, apply security patches, remove unnecessary services, and perform regular security audits.</a:t>
                      </a:r>
                    </a:p>
                  </a:txBody>
                  <a:tcPr anchor="ctr"/>
                </a:tc>
              </a:tr>
            </a:tbl>
          </a:graphicData>
        </a:graphic>
      </p:graphicFrame>
    </p:spTree>
    <p:extLst>
      <p:ext uri="{BB962C8B-B14F-4D97-AF65-F5344CB8AC3E}">
        <p14:creationId xmlns:p14="http://schemas.microsoft.com/office/powerpoint/2010/main" val="2933562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0"/>
            <a:ext cx="10515600" cy="1325563"/>
          </a:xfrm>
        </p:spPr>
        <p:txBody>
          <a:bodyPr>
            <a:normAutofit/>
          </a:bodyPr>
          <a:lstStyle/>
          <a:p>
            <a:pPr algn="ctr"/>
            <a:r>
              <a:rPr lang="en-US" sz="2800" b="1" dirty="0" smtClean="0">
                <a:latin typeface="+mn-lt"/>
              </a:rPr>
              <a:t>SQL Injection Testing</a:t>
            </a:r>
            <a:endParaRPr lang="en-US" sz="2800" b="1" dirty="0">
              <a:latin typeface="+mn-lt"/>
            </a:endParaRPr>
          </a:p>
        </p:txBody>
      </p:sp>
      <p:sp>
        <p:nvSpPr>
          <p:cNvPr id="4" name="Rectangle 1"/>
          <p:cNvSpPr>
            <a:spLocks noGrp="1" noChangeArrowheads="1"/>
          </p:cNvSpPr>
          <p:nvPr>
            <p:ph idx="1"/>
          </p:nvPr>
        </p:nvSpPr>
        <p:spPr bwMode="auto">
          <a:xfrm>
            <a:off x="838201" y="1112236"/>
            <a:ext cx="552809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sng" strike="noStrike" cap="none" normalizeH="0" baseline="0" dirty="0" smtClean="0">
                <a:ln>
                  <a:noFill/>
                </a:ln>
                <a:solidFill>
                  <a:schemeClr val="tx1"/>
                </a:solidFill>
                <a:effectLst/>
              </a:rPr>
              <a:t>SQL Injection: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rPr>
              <a:t>SQL Injection is a web application vulnerability that occurs when untrusted user input is incorrectly handled in SQL queries, potentially allowing attackers to interfere with database operations.</a:t>
            </a:r>
            <a:endParaRPr kumimoji="0" lang="en-US"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1" i="0" u="sng"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sng" strike="noStrike" cap="none" normalizeH="0" baseline="0" dirty="0" smtClean="0">
                <a:ln>
                  <a:noFill/>
                </a:ln>
                <a:solidFill>
                  <a:schemeClr val="tx1"/>
                </a:solidFill>
                <a:effectLst/>
              </a:rPr>
              <a:t>Testing Performed:</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Examined the SQL Injection module in DVWA.</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Submitted controlled test inputs in the authorized lab.</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Observed and analyzed the application's responses.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Intercepted and inspected HTTP requests using Burp Suite.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1" i="0" u="sng"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sng" strike="noStrike" cap="none" normalizeH="0" baseline="0" dirty="0" smtClean="0">
                <a:ln>
                  <a:noFill/>
                </a:ln>
                <a:solidFill>
                  <a:schemeClr val="tx1"/>
                </a:solidFill>
                <a:effectLst/>
              </a:rPr>
              <a:t>Impact:</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Unauthorized access to database records.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Exposure or modification of sensitive information.</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Potential authentication bypass.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1" i="0" u="sng"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sng" strike="noStrike" cap="none" normalizeH="0" baseline="0" dirty="0" smtClean="0">
                <a:ln>
                  <a:noFill/>
                </a:ln>
                <a:solidFill>
                  <a:schemeClr val="tx1"/>
                </a:solidFill>
                <a:effectLst/>
              </a:rPr>
              <a:t>Mitigation:</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Use prepared statements and parameterized queries.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Validate user input appropriately.</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Apply least-privilege permissions to database accounts.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Avoid building SQL queries through direct string concatenation.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9579" y="1197533"/>
            <a:ext cx="3594222" cy="235846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9579" y="4223983"/>
            <a:ext cx="3594222" cy="1687888"/>
          </a:xfrm>
          <a:prstGeom prst="rect">
            <a:avLst/>
          </a:prstGeom>
        </p:spPr>
      </p:pic>
      <p:sp>
        <p:nvSpPr>
          <p:cNvPr id="7" name="TextBox 6"/>
          <p:cNvSpPr txBox="1"/>
          <p:nvPr/>
        </p:nvSpPr>
        <p:spPr>
          <a:xfrm flipH="1">
            <a:off x="7910769" y="5911871"/>
            <a:ext cx="3291842" cy="523220"/>
          </a:xfrm>
          <a:prstGeom prst="rect">
            <a:avLst/>
          </a:prstGeom>
          <a:noFill/>
        </p:spPr>
        <p:txBody>
          <a:bodyPr wrap="square" rtlCol="0">
            <a:spAutoFit/>
          </a:bodyPr>
          <a:lstStyle/>
          <a:p>
            <a:r>
              <a:rPr lang="fr-FR" sz="1400" dirty="0" err="1" smtClean="0"/>
              <a:t>Fig</a:t>
            </a:r>
            <a:r>
              <a:rPr lang="fr-FR" sz="1400" dirty="0" smtClean="0"/>
              <a:t> : </a:t>
            </a:r>
            <a:r>
              <a:rPr lang="fr-FR" sz="1400" dirty="0" err="1" smtClean="0"/>
              <a:t>Burp</a:t>
            </a:r>
            <a:r>
              <a:rPr lang="fr-FR" sz="1400" dirty="0" smtClean="0"/>
              <a:t> Suite </a:t>
            </a:r>
            <a:r>
              <a:rPr lang="fr-FR" sz="1400" dirty="0" err="1" smtClean="0"/>
              <a:t>Intercepted</a:t>
            </a:r>
            <a:r>
              <a:rPr lang="fr-FR" sz="1400" dirty="0" smtClean="0"/>
              <a:t> SQL Injection </a:t>
            </a:r>
            <a:r>
              <a:rPr lang="fr-FR" sz="1400" dirty="0" err="1" smtClean="0"/>
              <a:t>Request</a:t>
            </a:r>
            <a:endParaRPr lang="en-US" sz="1400" dirty="0"/>
          </a:p>
        </p:txBody>
      </p:sp>
      <p:sp>
        <p:nvSpPr>
          <p:cNvPr id="8" name="TextBox 7"/>
          <p:cNvSpPr txBox="1"/>
          <p:nvPr/>
        </p:nvSpPr>
        <p:spPr>
          <a:xfrm flipH="1">
            <a:off x="7835174" y="3589837"/>
            <a:ext cx="3443032" cy="307777"/>
          </a:xfrm>
          <a:prstGeom prst="rect">
            <a:avLst/>
          </a:prstGeom>
          <a:noFill/>
        </p:spPr>
        <p:txBody>
          <a:bodyPr wrap="square" rtlCol="0">
            <a:spAutoFit/>
          </a:bodyPr>
          <a:lstStyle/>
          <a:p>
            <a:r>
              <a:rPr lang="en-US" sz="1400" dirty="0" smtClean="0"/>
              <a:t>Fig: SQL Injection Test Performed on DVWA</a:t>
            </a:r>
            <a:endParaRPr lang="en-US" sz="1400" dirty="0"/>
          </a:p>
        </p:txBody>
      </p:sp>
    </p:spTree>
    <p:extLst>
      <p:ext uri="{BB962C8B-B14F-4D97-AF65-F5344CB8AC3E}">
        <p14:creationId xmlns:p14="http://schemas.microsoft.com/office/powerpoint/2010/main" val="3831349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422"/>
            <a:ext cx="10515600" cy="1325563"/>
          </a:xfrm>
        </p:spPr>
        <p:txBody>
          <a:bodyPr>
            <a:normAutofit/>
          </a:bodyPr>
          <a:lstStyle/>
          <a:p>
            <a:pPr algn="ctr"/>
            <a:r>
              <a:rPr lang="en-US" sz="2800" b="1" dirty="0" smtClean="0">
                <a:latin typeface="+mn-lt"/>
              </a:rPr>
              <a:t>Cross-Site </a:t>
            </a:r>
            <a:r>
              <a:rPr lang="en-US" sz="3200" b="1" dirty="0" smtClean="0">
                <a:latin typeface="+mn-lt"/>
              </a:rPr>
              <a:t>Scripting</a:t>
            </a:r>
            <a:r>
              <a:rPr lang="en-US" sz="2800" b="1" dirty="0" smtClean="0">
                <a:latin typeface="+mn-lt"/>
              </a:rPr>
              <a:t> (XSS)</a:t>
            </a:r>
            <a:endParaRPr lang="en-US" sz="2800" b="1" dirty="0">
              <a:latin typeface="+mn-lt"/>
            </a:endParaRPr>
          </a:p>
        </p:txBody>
      </p:sp>
      <p:sp>
        <p:nvSpPr>
          <p:cNvPr id="4" name="Rectangle 1"/>
          <p:cNvSpPr>
            <a:spLocks noGrp="1" noChangeArrowheads="1"/>
          </p:cNvSpPr>
          <p:nvPr>
            <p:ph idx="1"/>
          </p:nvPr>
        </p:nvSpPr>
        <p:spPr bwMode="auto">
          <a:xfrm>
            <a:off x="838200" y="1525985"/>
            <a:ext cx="5968042"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rPr>
              <a:t>Cross-Site Scripting (XSS) is a web vulnerability in which improperly handled user input is interpreted as executable code in a user's browser.</a:t>
            </a:r>
            <a:endParaRPr kumimoji="0" lang="en-US" sz="1600" b="1" i="0" u="none"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Types Tested</a:t>
            </a:r>
          </a:p>
          <a:p>
            <a:pPr eaLnBrk="0" fontAlgn="base" hangingPunct="0">
              <a:lnSpc>
                <a:spcPct val="100000"/>
              </a:lnSpc>
              <a:spcBef>
                <a:spcPct val="0"/>
              </a:spcBef>
              <a:spcAft>
                <a:spcPct val="0"/>
              </a:spcAft>
            </a:pPr>
            <a:r>
              <a:rPr kumimoji="0" lang="en-US" sz="1600" b="1" i="0" u="sng" strike="noStrike" cap="none" normalizeH="0" baseline="0" dirty="0" smtClean="0">
                <a:ln>
                  <a:noFill/>
                </a:ln>
                <a:solidFill>
                  <a:schemeClr val="tx1"/>
                </a:solidFill>
                <a:effectLst/>
              </a:rPr>
              <a:t>Reflected XSS:</a:t>
            </a:r>
            <a:r>
              <a:rPr kumimoji="0" lang="en-US" sz="1600" b="0" i="0" u="sng" strike="noStrike" cap="none" normalizeH="0" baseline="0" dirty="0" smtClean="0">
                <a:ln>
                  <a:noFill/>
                </a:ln>
                <a:solidFill>
                  <a:schemeClr val="tx1"/>
                </a:solidFill>
                <a:effectLst/>
              </a:rPr>
              <a:t> </a:t>
            </a:r>
            <a:r>
              <a:rPr kumimoji="0" lang="en-US" sz="1600" b="0" i="0" u="none" strike="noStrike" cap="none" normalizeH="0" baseline="0" dirty="0" smtClean="0">
                <a:ln>
                  <a:noFill/>
                </a:ln>
                <a:solidFill>
                  <a:schemeClr val="tx1"/>
                </a:solidFill>
                <a:effectLst/>
              </a:rPr>
              <a:t>Malicious input is reflected in the application's response and may execute immediately in the browser.</a:t>
            </a:r>
          </a:p>
          <a:p>
            <a:pPr eaLnBrk="0" fontAlgn="base" hangingPunct="0">
              <a:lnSpc>
                <a:spcPct val="100000"/>
              </a:lnSpc>
              <a:spcBef>
                <a:spcPct val="0"/>
              </a:spcBef>
              <a:spcAft>
                <a:spcPct val="0"/>
              </a:spcAft>
            </a:pPr>
            <a:r>
              <a:rPr kumimoji="0" lang="en-US" sz="1600" b="1" i="0" u="sng" strike="noStrike" cap="none" normalizeH="0" baseline="0" dirty="0" smtClean="0">
                <a:ln>
                  <a:noFill/>
                </a:ln>
                <a:solidFill>
                  <a:schemeClr val="tx1"/>
                </a:solidFill>
                <a:effectLst/>
              </a:rPr>
              <a:t>Stored XSS:</a:t>
            </a:r>
            <a:r>
              <a:rPr kumimoji="0" lang="en-US" sz="1600" b="0" i="0" u="sng" strike="noStrike" cap="none" normalizeH="0" baseline="0" dirty="0" smtClean="0">
                <a:ln>
                  <a:noFill/>
                </a:ln>
                <a:solidFill>
                  <a:schemeClr val="tx1"/>
                </a:solidFill>
                <a:effectLst/>
              </a:rPr>
              <a:t> </a:t>
            </a:r>
            <a:r>
              <a:rPr kumimoji="0" lang="en-US" sz="1600" b="0" i="0" u="none" strike="noStrike" cap="none" normalizeH="0" baseline="0" dirty="0" smtClean="0">
                <a:ln>
                  <a:noFill/>
                </a:ln>
                <a:solidFill>
                  <a:schemeClr val="tx1"/>
                </a:solidFill>
                <a:effectLst/>
              </a:rPr>
              <a:t>Untrusted input is saved by the application and may execute when another user views the affected content.</a:t>
            </a: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Testing Performed:</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Tested Reflected and Stored XSS in DVWA.</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Observed browser-side behavior using controlled test inputs.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Captured and analyzed HTTP requests using Burp Suite.</a:t>
            </a: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Mitigation:</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Apply context-aware output encoding.</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Validate and sanitize user input where appropriate.</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Implement a Content Security Policy (CSP).</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Handle user-generated content securely.</a:t>
            </a:r>
          </a:p>
          <a:p>
            <a:pPr eaLnBrk="0" fontAlgn="base" hangingPunct="0">
              <a:lnSpc>
                <a:spcPct val="100000"/>
              </a:lnSpc>
              <a:spcBef>
                <a:spcPct val="0"/>
              </a:spcBef>
              <a:spcAft>
                <a:spcPct val="0"/>
              </a:spcAf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8126" y="2078946"/>
            <a:ext cx="3093988" cy="153801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8126" y="4417560"/>
            <a:ext cx="3093988" cy="1759720"/>
          </a:xfrm>
          <a:prstGeom prst="rect">
            <a:avLst/>
          </a:prstGeom>
        </p:spPr>
      </p:pic>
      <p:sp>
        <p:nvSpPr>
          <p:cNvPr id="7" name="TextBox 6"/>
          <p:cNvSpPr txBox="1"/>
          <p:nvPr/>
        </p:nvSpPr>
        <p:spPr>
          <a:xfrm>
            <a:off x="7807960" y="3649643"/>
            <a:ext cx="2814320" cy="307777"/>
          </a:xfrm>
          <a:prstGeom prst="rect">
            <a:avLst/>
          </a:prstGeom>
          <a:noFill/>
        </p:spPr>
        <p:txBody>
          <a:bodyPr wrap="square" rtlCol="0">
            <a:spAutoFit/>
          </a:bodyPr>
          <a:lstStyle/>
          <a:p>
            <a:r>
              <a:rPr lang="en-US" sz="1400" dirty="0" smtClean="0"/>
              <a:t>Fig: Reflected XSS Testing in DVWA</a:t>
            </a:r>
            <a:endParaRPr lang="en-US" sz="1400" dirty="0"/>
          </a:p>
        </p:txBody>
      </p:sp>
      <p:sp>
        <p:nvSpPr>
          <p:cNvPr id="8" name="TextBox 7"/>
          <p:cNvSpPr txBox="1"/>
          <p:nvPr/>
        </p:nvSpPr>
        <p:spPr>
          <a:xfrm flipH="1">
            <a:off x="7807960" y="6177280"/>
            <a:ext cx="2672081" cy="523220"/>
          </a:xfrm>
          <a:prstGeom prst="rect">
            <a:avLst/>
          </a:prstGeom>
          <a:noFill/>
        </p:spPr>
        <p:txBody>
          <a:bodyPr wrap="square" rtlCol="0">
            <a:spAutoFit/>
          </a:bodyPr>
          <a:lstStyle/>
          <a:p>
            <a:r>
              <a:rPr lang="en-US" sz="1400" dirty="0" smtClean="0"/>
              <a:t>Figure: Burp Suite Request Captured During XSS Testing</a:t>
            </a:r>
            <a:endParaRPr lang="en-US" sz="1400" dirty="0"/>
          </a:p>
        </p:txBody>
      </p:sp>
    </p:spTree>
    <p:extLst>
      <p:ext uri="{BB962C8B-B14F-4D97-AF65-F5344CB8AC3E}">
        <p14:creationId xmlns:p14="http://schemas.microsoft.com/office/powerpoint/2010/main" val="3109689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r-FR" sz="2800" b="1" dirty="0" err="1" smtClean="0"/>
              <a:t>Burp</a:t>
            </a:r>
            <a:r>
              <a:rPr lang="fr-FR" sz="2800" b="1" dirty="0" smtClean="0"/>
              <a:t> Suite </a:t>
            </a:r>
            <a:r>
              <a:rPr lang="fr-FR" sz="2800" b="1" dirty="0" err="1" smtClean="0"/>
              <a:t>Request</a:t>
            </a:r>
            <a:r>
              <a:rPr lang="fr-FR" sz="2800" b="1" dirty="0" smtClean="0"/>
              <a:t> &amp; </a:t>
            </a:r>
            <a:r>
              <a:rPr lang="fr-FR" sz="2800" b="1" dirty="0" err="1" smtClean="0"/>
              <a:t>Response</a:t>
            </a:r>
            <a:r>
              <a:rPr lang="fr-FR" sz="2800" b="1" dirty="0" smtClean="0"/>
              <a:t> </a:t>
            </a:r>
            <a:r>
              <a:rPr lang="fr-FR" sz="2800" b="1" dirty="0" err="1" smtClean="0"/>
              <a:t>Analysis</a:t>
            </a:r>
            <a:endParaRPr lang="en-US" sz="2800" b="1" dirty="0"/>
          </a:p>
        </p:txBody>
      </p:sp>
      <p:sp>
        <p:nvSpPr>
          <p:cNvPr id="4" name="Rectangle 1"/>
          <p:cNvSpPr>
            <a:spLocks noGrp="1" noChangeArrowheads="1"/>
          </p:cNvSpPr>
          <p:nvPr>
            <p:ph idx="1"/>
          </p:nvPr>
        </p:nvSpPr>
        <p:spPr bwMode="auto">
          <a:xfrm>
            <a:off x="838200" y="1969968"/>
            <a:ext cx="640588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HTTP Traffic Inspection:</a:t>
            </a:r>
            <a:r>
              <a:rPr kumimoji="0" lang="en-US" sz="1600" b="0" i="0" u="sng" strike="noStrike" cap="none" normalizeH="0" baseline="0" dirty="0" smtClean="0">
                <a:ln>
                  <a:noFill/>
                </a:ln>
                <a:solidFill>
                  <a:schemeClr val="tx1"/>
                </a:solidFill>
                <a:effectLst/>
              </a:rPr>
              <a:t> </a:t>
            </a:r>
            <a:r>
              <a:rPr kumimoji="0" lang="en-US" sz="1600" b="0" i="0" u="none" strike="noStrike" cap="none" normalizeH="0" baseline="0" dirty="0" smtClean="0">
                <a:ln>
                  <a:noFill/>
                </a:ln>
                <a:solidFill>
                  <a:schemeClr val="tx1"/>
                </a:solidFill>
                <a:effectLst/>
              </a:rPr>
              <a:t>Burp Suite was used as an interception proxy to analyze HTTP communication between the browser and the DVWA application.</a:t>
            </a:r>
            <a:endParaRPr kumimoji="0" lang="en-US" sz="1600" b="1" i="0" u="none"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Activities Performed</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Captured and inspected HTTP requests.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Analyzed request parameters and user inputs.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Reviewed server responses and status codes.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Observed application behavior during vulnerability testing.</a:t>
            </a: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Evidence Collected</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HTTP methods and requested URLs.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Request parameters and test inputs.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Server response status codes and content.</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Observed application behavior and potential vulnerabilities.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7245" y="4001293"/>
            <a:ext cx="3429235" cy="2031326"/>
          </a:xfrm>
          <a:prstGeom prst="rect">
            <a:avLst/>
          </a:prstGeom>
        </p:spPr>
      </p:pic>
      <p:sp>
        <p:nvSpPr>
          <p:cNvPr id="6" name="Rectangle 5"/>
          <p:cNvSpPr/>
          <p:nvPr/>
        </p:nvSpPr>
        <p:spPr>
          <a:xfrm>
            <a:off x="7160358" y="6032619"/>
            <a:ext cx="4663008" cy="307777"/>
          </a:xfrm>
          <a:prstGeom prst="rect">
            <a:avLst/>
          </a:prstGeom>
        </p:spPr>
        <p:txBody>
          <a:bodyPr wrap="none">
            <a:spAutoFit/>
          </a:bodyPr>
          <a:lstStyle/>
          <a:p>
            <a:r>
              <a:rPr lang="en-US" sz="1400" dirty="0" smtClean="0"/>
              <a:t>Figure: Burp Suite Captured HTTP Request &amp; Response of SQL</a:t>
            </a:r>
            <a:endParaRPr lang="en-US" sz="14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7245" y="1969968"/>
            <a:ext cx="3246355" cy="1723548"/>
          </a:xfrm>
          <a:prstGeom prst="rect">
            <a:avLst/>
          </a:prstGeom>
        </p:spPr>
      </p:pic>
    </p:spTree>
    <p:extLst>
      <p:ext uri="{BB962C8B-B14F-4D97-AF65-F5344CB8AC3E}">
        <p14:creationId xmlns:p14="http://schemas.microsoft.com/office/powerpoint/2010/main" val="1535086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294005"/>
            <a:ext cx="10515600" cy="1325563"/>
          </a:xfrm>
        </p:spPr>
        <p:txBody>
          <a:bodyPr>
            <a:normAutofit/>
          </a:bodyPr>
          <a:lstStyle/>
          <a:p>
            <a:pPr lvl="0" algn="ctr" eaLnBrk="0" fontAlgn="base" hangingPunct="0">
              <a:lnSpc>
                <a:spcPct val="100000"/>
              </a:lnSpc>
              <a:spcAft>
                <a:spcPct val="0"/>
              </a:spcAft>
            </a:pPr>
            <a:r>
              <a:rPr kumimoji="0" lang="en-US" sz="2800" b="1" i="0" u="none" strike="noStrike" cap="none" normalizeH="0" baseline="0" dirty="0" smtClean="0">
                <a:ln>
                  <a:noFill/>
                </a:ln>
                <a:solidFill>
                  <a:schemeClr val="tx1"/>
                </a:solidFill>
                <a:effectLst/>
              </a:rPr>
              <a:t>OWASP ZAP Scanning and Findings</a:t>
            </a:r>
            <a:endParaRPr kumimoji="0" lang="en-US" sz="2800" b="1" i="0" u="none" strike="noStrike" cap="none" normalizeH="0" baseline="0" dirty="0" smtClean="0">
              <a:ln>
                <a:noFill/>
              </a:ln>
              <a:solidFill>
                <a:schemeClr val="tx1"/>
              </a:solidFill>
              <a:effectLst/>
            </a:endParaRPr>
          </a:p>
        </p:txBody>
      </p:sp>
      <p:sp>
        <p:nvSpPr>
          <p:cNvPr id="4" name="Rectangle 1"/>
          <p:cNvSpPr>
            <a:spLocks noGrp="1" noChangeArrowheads="1"/>
          </p:cNvSpPr>
          <p:nvPr>
            <p:ph idx="1"/>
          </p:nvPr>
        </p:nvSpPr>
        <p:spPr bwMode="auto">
          <a:xfrm>
            <a:off x="838201" y="1706276"/>
            <a:ext cx="67818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Automated Vulnerability Scanning:</a:t>
            </a:r>
            <a:r>
              <a:rPr kumimoji="0" lang="en-US" sz="1600" b="0" i="0" u="sng" strike="noStrike" cap="none" normalizeH="0" baseline="0" dirty="0" smtClean="0">
                <a:ln>
                  <a:noFill/>
                </a:ln>
                <a:solidFill>
                  <a:schemeClr val="tx1"/>
                </a:solidFill>
                <a:effectLst/>
              </a:rPr>
              <a:t> </a:t>
            </a:r>
            <a:r>
              <a:rPr kumimoji="0" lang="en-US" sz="1600" b="0" i="0" u="none" strike="noStrike" cap="none" normalizeH="0" baseline="0" dirty="0" smtClean="0">
                <a:ln>
                  <a:noFill/>
                </a:ln>
                <a:solidFill>
                  <a:schemeClr val="tx1"/>
                </a:solidFill>
                <a:effectLst/>
              </a:rPr>
              <a:t>OWASP ZAP was used to scan the authorized DVWA environment and identify potential web application security issues.</a:t>
            </a:r>
            <a:endParaRPr kumimoji="0" lang="en-US" sz="1600" b="1" i="0" u="none"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Scan Process: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Configure the target application.</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Crawl the application to discover pages and endpoints.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Perform an automated security scan.</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Review and analyze the generated alerts.</a:t>
            </a: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Findings:</a:t>
            </a:r>
          </a:p>
          <a:p>
            <a:pPr marL="0" indent="0" eaLnBrk="0" fontAlgn="base" hangingPunct="0">
              <a:lnSpc>
                <a:spcPct val="100000"/>
              </a:lnSpc>
              <a:spcBef>
                <a:spcPct val="0"/>
              </a:spcBef>
              <a:spcAft>
                <a:spcPct val="0"/>
              </a:spcAft>
              <a:buNone/>
            </a:pPr>
            <a:r>
              <a:rPr kumimoji="0" lang="en-US" sz="1600" b="0" i="0" u="none" strike="noStrike" cap="none" normalizeH="0" baseline="0" dirty="0" smtClean="0">
                <a:ln>
                  <a:noFill/>
                </a:ln>
                <a:solidFill>
                  <a:schemeClr val="tx1"/>
                </a:solidFill>
                <a:effectLst/>
              </a:rPr>
              <a:t>The scan results were classified according to risk levels:</a:t>
            </a:r>
          </a:p>
          <a:p>
            <a:pPr eaLnBrk="0" fontAlgn="base" hangingPunct="0">
              <a:lnSpc>
                <a:spcPct val="100000"/>
              </a:lnSpc>
              <a:spcBef>
                <a:spcPct val="0"/>
              </a:spcBef>
              <a:spcAft>
                <a:spcPct val="0"/>
              </a:spcAft>
            </a:pPr>
            <a:r>
              <a:rPr kumimoji="0" lang="en-US" sz="1600" b="1" i="0" u="none" strike="noStrike" cap="none" normalizeH="0" baseline="0" dirty="0" smtClean="0">
                <a:ln>
                  <a:noFill/>
                </a:ln>
                <a:solidFill>
                  <a:schemeClr val="tx1"/>
                </a:solidFill>
                <a:effectLst/>
              </a:rPr>
              <a:t>High:</a:t>
            </a:r>
            <a:r>
              <a:rPr kumimoji="0" lang="en-US" sz="1600" b="0" i="0" u="none" strike="noStrike" cap="none" normalizeH="0" baseline="0" dirty="0" smtClean="0">
                <a:ln>
                  <a:noFill/>
                </a:ln>
                <a:solidFill>
                  <a:schemeClr val="tx1"/>
                </a:solidFill>
                <a:effectLst/>
              </a:rPr>
              <a:t> Critical security concerns.</a:t>
            </a:r>
          </a:p>
          <a:p>
            <a:pPr eaLnBrk="0" fontAlgn="base" hangingPunct="0">
              <a:lnSpc>
                <a:spcPct val="100000"/>
              </a:lnSpc>
              <a:spcBef>
                <a:spcPct val="0"/>
              </a:spcBef>
              <a:spcAft>
                <a:spcPct val="0"/>
              </a:spcAft>
            </a:pPr>
            <a:r>
              <a:rPr kumimoji="0" lang="en-US" sz="1600" b="1" i="0" u="none" strike="noStrike" cap="none" normalizeH="0" baseline="0" dirty="0" smtClean="0">
                <a:ln>
                  <a:noFill/>
                </a:ln>
                <a:solidFill>
                  <a:schemeClr val="tx1"/>
                </a:solidFill>
                <a:effectLst/>
              </a:rPr>
              <a:t>Medium:</a:t>
            </a:r>
            <a:r>
              <a:rPr kumimoji="0" lang="en-US" sz="1600" b="0" i="0" u="none" strike="noStrike" cap="none" normalizeH="0" baseline="0" dirty="0" smtClean="0">
                <a:ln>
                  <a:noFill/>
                </a:ln>
                <a:solidFill>
                  <a:schemeClr val="tx1"/>
                </a:solidFill>
                <a:effectLst/>
              </a:rPr>
              <a:t> Potentially exploitable weaknesses.</a:t>
            </a:r>
          </a:p>
          <a:p>
            <a:pPr eaLnBrk="0" fontAlgn="base" hangingPunct="0">
              <a:lnSpc>
                <a:spcPct val="100000"/>
              </a:lnSpc>
              <a:spcBef>
                <a:spcPct val="0"/>
              </a:spcBef>
              <a:spcAft>
                <a:spcPct val="0"/>
              </a:spcAft>
            </a:pPr>
            <a:r>
              <a:rPr kumimoji="0" lang="en-US" sz="1600" b="1" i="0" u="none" strike="noStrike" cap="none" normalizeH="0" baseline="0" dirty="0" smtClean="0">
                <a:ln>
                  <a:noFill/>
                </a:ln>
                <a:solidFill>
                  <a:schemeClr val="tx1"/>
                </a:solidFill>
                <a:effectLst/>
              </a:rPr>
              <a:t>Low:</a:t>
            </a:r>
            <a:r>
              <a:rPr kumimoji="0" lang="en-US" sz="1600" b="0" i="0" u="none" strike="noStrike" cap="none" normalizeH="0" baseline="0" dirty="0" smtClean="0">
                <a:ln>
                  <a:noFill/>
                </a:ln>
                <a:solidFill>
                  <a:schemeClr val="tx1"/>
                </a:solidFill>
                <a:effectLst/>
              </a:rPr>
              <a:t> Minor security issues.</a:t>
            </a:r>
          </a:p>
          <a:p>
            <a:pPr eaLnBrk="0" fontAlgn="base" hangingPunct="0">
              <a:lnSpc>
                <a:spcPct val="100000"/>
              </a:lnSpc>
              <a:spcBef>
                <a:spcPct val="0"/>
              </a:spcBef>
              <a:spcAft>
                <a:spcPct val="0"/>
              </a:spcAft>
            </a:pPr>
            <a:r>
              <a:rPr kumimoji="0" lang="en-US" sz="1600" b="1" i="0" u="none" strike="noStrike" cap="none" normalizeH="0" baseline="0" dirty="0" smtClean="0">
                <a:ln>
                  <a:noFill/>
                </a:ln>
                <a:solidFill>
                  <a:schemeClr val="tx1"/>
                </a:solidFill>
                <a:effectLst/>
              </a:rPr>
              <a:t>Informational:</a:t>
            </a:r>
            <a:r>
              <a:rPr kumimoji="0" lang="en-US" sz="1600" b="0" i="0" u="none" strike="noStrike" cap="none" normalizeH="0" baseline="0" dirty="0" smtClean="0">
                <a:ln>
                  <a:noFill/>
                </a:ln>
                <a:solidFill>
                  <a:schemeClr val="tx1"/>
                </a:solidFill>
                <a:effectLst/>
              </a:rPr>
              <a:t> Observations and security recommendations.</a:t>
            </a: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Risk Assessment:</a:t>
            </a:r>
          </a:p>
          <a:p>
            <a:pPr marL="0" indent="0" eaLnBrk="0" fontAlgn="base" hangingPunct="0">
              <a:lnSpc>
                <a:spcPct val="100000"/>
              </a:lnSpc>
              <a:spcBef>
                <a:spcPct val="0"/>
              </a:spcBef>
              <a:spcAft>
                <a:spcPct val="0"/>
              </a:spcAft>
              <a:buNone/>
            </a:pPr>
            <a:r>
              <a:rPr kumimoji="0" lang="en-US" sz="1600" b="0" i="0" u="none" strike="noStrike" cap="none" normalizeH="0" baseline="0" dirty="0" smtClean="0">
                <a:ln>
                  <a:noFill/>
                </a:ln>
                <a:solidFill>
                  <a:schemeClr val="tx1"/>
                </a:solidFill>
                <a:effectLst/>
              </a:rPr>
              <a:t>The identified alerts were reviewed to evaluate their potential impact, verify relevant findings, and recommend suitable mitigation measures.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2129" y="2382456"/>
            <a:ext cx="3756986" cy="146316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1" y="4608511"/>
            <a:ext cx="3749365" cy="1272650"/>
          </a:xfrm>
          <a:prstGeom prst="rect">
            <a:avLst/>
          </a:prstGeom>
        </p:spPr>
      </p:pic>
      <p:sp>
        <p:nvSpPr>
          <p:cNvPr id="7" name="Rectangle 6"/>
          <p:cNvSpPr/>
          <p:nvPr/>
        </p:nvSpPr>
        <p:spPr>
          <a:xfrm>
            <a:off x="8309262" y="5881161"/>
            <a:ext cx="2370842" cy="276999"/>
          </a:xfrm>
          <a:prstGeom prst="rect">
            <a:avLst/>
          </a:prstGeom>
        </p:spPr>
        <p:txBody>
          <a:bodyPr wrap="none">
            <a:spAutoFit/>
          </a:bodyPr>
          <a:lstStyle/>
          <a:p>
            <a:r>
              <a:rPr lang="en-US" sz="1200" dirty="0" smtClean="0"/>
              <a:t>Figure: OWASP ZAP Alerts/Findings</a:t>
            </a:r>
            <a:endParaRPr lang="en-US" sz="1200" dirty="0"/>
          </a:p>
        </p:txBody>
      </p:sp>
      <p:sp>
        <p:nvSpPr>
          <p:cNvPr id="8" name="Rectangle 7"/>
          <p:cNvSpPr/>
          <p:nvPr/>
        </p:nvSpPr>
        <p:spPr>
          <a:xfrm>
            <a:off x="7934544" y="3833687"/>
            <a:ext cx="3120278" cy="276999"/>
          </a:xfrm>
          <a:prstGeom prst="rect">
            <a:avLst/>
          </a:prstGeom>
        </p:spPr>
        <p:txBody>
          <a:bodyPr wrap="none">
            <a:spAutoFit/>
          </a:bodyPr>
          <a:lstStyle/>
          <a:p>
            <a:r>
              <a:rPr lang="en-US" sz="1200" dirty="0" smtClean="0"/>
              <a:t>Figure: DVWA Target Configured in OWASP ZAP</a:t>
            </a:r>
            <a:endParaRPr lang="en-US" sz="1200" dirty="0"/>
          </a:p>
        </p:txBody>
      </p:sp>
    </p:spTree>
    <p:extLst>
      <p:ext uri="{BB962C8B-B14F-4D97-AF65-F5344CB8AC3E}">
        <p14:creationId xmlns:p14="http://schemas.microsoft.com/office/powerpoint/2010/main" val="89777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latin typeface="+mn-lt"/>
              </a:rPr>
              <a:t>Mitigation &amp; Conclusion</a:t>
            </a:r>
            <a:endParaRPr lang="en-US" sz="2800" dirty="0">
              <a:latin typeface="+mn-lt"/>
            </a:endParaRPr>
          </a:p>
        </p:txBody>
      </p:sp>
      <p:sp>
        <p:nvSpPr>
          <p:cNvPr id="4" name="Rectangle 1"/>
          <p:cNvSpPr>
            <a:spLocks noGrp="1" noChangeArrowheads="1"/>
          </p:cNvSpPr>
          <p:nvPr>
            <p:ph idx="1"/>
          </p:nvPr>
        </p:nvSpPr>
        <p:spPr bwMode="auto">
          <a:xfrm>
            <a:off x="1000760" y="1444467"/>
            <a:ext cx="6568439"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Key Mitigation Measures: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Use parameterized queries to prevent SQL Injection.</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Validate user input and apply context-aware output encoding to prevent XSS.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Implement strong authentication and secure session handling.</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Remove insecure configurations and disable unnecessary services.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Update software and dependencies regularly.</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Configure appropriate security headers.</a:t>
            </a:r>
          </a:p>
          <a:p>
            <a:pPr eaLnBrk="0" fontAlgn="base" hangingPunct="0">
              <a:lnSpc>
                <a:spcPct val="100000"/>
              </a:lnSpc>
              <a:spcBef>
                <a:spcPct val="0"/>
              </a:spcBef>
              <a:spcAft>
                <a:spcPct val="0"/>
              </a:spcAft>
            </a:pPr>
            <a:r>
              <a:rPr kumimoji="0" lang="en-US" sz="1600" b="0" i="0" u="none" strike="noStrike" cap="none" normalizeH="0" baseline="0" dirty="0" smtClean="0">
                <a:ln>
                  <a:noFill/>
                </a:ln>
                <a:solidFill>
                  <a:schemeClr val="tx1"/>
                </a:solidFill>
                <a:effectLst/>
              </a:rPr>
              <a:t>Conduct periodic vulnerability assessments and penetration testing.</a:t>
            </a: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Conclusion:</a:t>
            </a:r>
          </a:p>
          <a:p>
            <a:pPr marL="0" indent="0" eaLnBrk="0" fontAlgn="base" hangingPunct="0">
              <a:lnSpc>
                <a:spcPct val="100000"/>
              </a:lnSpc>
              <a:spcBef>
                <a:spcPct val="0"/>
              </a:spcBef>
              <a:spcAft>
                <a:spcPct val="0"/>
              </a:spcAft>
              <a:buNone/>
            </a:pPr>
            <a:r>
              <a:rPr kumimoji="0" lang="en-US" sz="1600" b="0" i="0" u="none" strike="noStrike" cap="none" normalizeH="0" baseline="0" dirty="0" smtClean="0">
                <a:ln>
                  <a:noFill/>
                </a:ln>
                <a:solidFill>
                  <a:schemeClr val="tx1"/>
                </a:solidFill>
                <a:effectLst/>
              </a:rPr>
              <a:t>The Week 6 practical introduced web application security testing using DVWA in an authorized lab environment. Burp Suite was used to inspect HTTP traffic, while OWASP ZAP helped identify potential security issues through automated scanning. Testing SQL Injection and XSS highlighted common web application risks and the importance of effective security controls.</a:t>
            </a:r>
            <a:endParaRPr kumimoji="0" lang="en-US" sz="1600" b="1" i="0" u="none"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endParaRPr kumimoji="0" lang="en-US" sz="1600" b="1" i="0" u="sng" strike="noStrike" cap="none" normalizeH="0" baseline="0" dirty="0" smtClean="0">
              <a:ln>
                <a:noFill/>
              </a:ln>
              <a:solidFill>
                <a:schemeClr val="tx1"/>
              </a:solidFill>
              <a:effectLst/>
            </a:endParaRPr>
          </a:p>
          <a:p>
            <a:pPr marL="0" indent="0" eaLnBrk="0" fontAlgn="base" hangingPunct="0">
              <a:lnSpc>
                <a:spcPct val="100000"/>
              </a:lnSpc>
              <a:spcBef>
                <a:spcPct val="0"/>
              </a:spcBef>
              <a:spcAft>
                <a:spcPct val="0"/>
              </a:spcAft>
              <a:buNone/>
            </a:pPr>
            <a:r>
              <a:rPr kumimoji="0" lang="en-US" sz="1600" b="1" i="0" u="sng" strike="noStrike" cap="none" normalizeH="0" baseline="0" dirty="0" smtClean="0">
                <a:ln>
                  <a:noFill/>
                </a:ln>
                <a:solidFill>
                  <a:schemeClr val="tx1"/>
                </a:solidFill>
                <a:effectLst/>
              </a:rPr>
              <a:t>Key Learning:</a:t>
            </a:r>
          </a:p>
          <a:p>
            <a:pPr marL="0" indent="0" eaLnBrk="0" fontAlgn="base" hangingPunct="0">
              <a:lnSpc>
                <a:spcPct val="100000"/>
              </a:lnSpc>
              <a:spcBef>
                <a:spcPct val="0"/>
              </a:spcBef>
              <a:spcAft>
                <a:spcPct val="0"/>
              </a:spcAft>
              <a:buNone/>
            </a:pPr>
            <a:r>
              <a:rPr kumimoji="0" lang="en-US" sz="1600" b="1" i="0" u="none" strike="noStrike" cap="none" normalizeH="0" baseline="0" dirty="0" smtClean="0">
                <a:ln>
                  <a:noFill/>
                </a:ln>
                <a:solidFill>
                  <a:schemeClr val="tx1"/>
                </a:solidFill>
                <a:effectLst/>
              </a:rPr>
              <a:t>Identify → Test → Analyze → Evaluate Risk → Mitigate → Verify</a:t>
            </a:r>
            <a:endParaRPr kumimoji="0" lang="en-US" sz="16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4173258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1542</TotalTime>
  <Words>917</Words>
  <Application>Microsoft Office PowerPoint</Application>
  <PresentationFormat>Widescreen</PresentationFormat>
  <Paragraphs>135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CYBERSECURITY INTERSHIP WEEK 6 ASSIGNMENT  WEB SECURITY &amp; VULNERABILITY TESTING</vt:lpstr>
      <vt:lpstr>Introduction to VAPT (Vulnerability Assessment and Penetration Testing)</vt:lpstr>
      <vt:lpstr>Study of OWASP Vulnerabilities</vt:lpstr>
      <vt:lpstr>SQL Injection Testing</vt:lpstr>
      <vt:lpstr>Cross-Site Scripting (XSS)</vt:lpstr>
      <vt:lpstr>Burp Suite Request &amp; Response Analysis</vt:lpstr>
      <vt:lpstr>OWASP ZAP Scanning and Findings</vt:lpstr>
      <vt:lpstr>Mitigation &amp; 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INTERSHIP WEEK 6 ASSIGNMENT  WEB SECURITY &amp; VULNERABILITY TESTING</dc:title>
  <dc:creator>Microsoft account</dc:creator>
  <cp:lastModifiedBy>Microsoft account</cp:lastModifiedBy>
  <cp:revision>8</cp:revision>
  <dcterms:created xsi:type="dcterms:W3CDTF">2026-10-12T14:22:01Z</dcterms:created>
  <dcterms:modified xsi:type="dcterms:W3CDTF">2026-10-13T16:04:10Z</dcterms:modified>
</cp:coreProperties>
</file>